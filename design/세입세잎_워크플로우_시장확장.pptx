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bf90bb85424108" /><Relationship Type="http://schemas.openxmlformats.org/officeDocument/2006/relationships/extended-properties" Target="/docProps/app.xml" Id="R92b5be8e72284002" /><Relationship Type="http://schemas.openxmlformats.org/officeDocument/2006/relationships/officeDocument" Target="/ppt/presentation.xml" Id="Re8138c8c1e13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4f29d2130f41fb"/>
  </p:sldMasterIdLst>
  <p:notesMasterIdLst>
    <p:notesMasterId xmlns:r="http://schemas.openxmlformats.org/officeDocument/2006/relationships" r:id="Rcf01a7b835854577"/>
  </p:notesMasterIdLst>
  <p:sldIdLst>
    <p:sldId xmlns:r="http://schemas.openxmlformats.org/officeDocument/2006/relationships" id="256" r:id="Rf41703683bfe468a"/>
    <p:sldId xmlns:r="http://schemas.openxmlformats.org/officeDocument/2006/relationships" id="257" r:id="R8de545fb59c94a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74fc8b2d34d29" /><Relationship Type="http://schemas.openxmlformats.org/officeDocument/2006/relationships/slideMaster" Target="/ppt/slideMasters/slideMaster1.xml" Id="Re44f29d2130f41fb" /><Relationship Type="http://schemas.openxmlformats.org/officeDocument/2006/relationships/notesMaster" Target="/ppt/notesMasters/notesMaster1.xml" Id="Rcf01a7b835854577" /><Relationship Type="http://schemas.openxmlformats.org/officeDocument/2006/relationships/presProps" Target="/ppt/presProps.xml" Id="R518a22971cf9449b" /><Relationship Type="http://schemas.openxmlformats.org/officeDocument/2006/relationships/tableStyles" Target="/ppt/tableStyles.xml" Id="Ra8b3a3a05d124a11" /><Relationship Type="http://schemas.openxmlformats.org/officeDocument/2006/relationships/slide" Target="/ppt/slides/slide1.xml" Id="Rf41703683bfe468a" /><Relationship Type="http://schemas.openxmlformats.org/officeDocument/2006/relationships/slide" Target="/ppt/slides/slide2.xml" Id="R8de545fb59c94a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be0e27590e4c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1c6f38a8984e81" /><Relationship Type="http://schemas.openxmlformats.org/officeDocument/2006/relationships/notesMaster" Target="/ppt/notesMasters/notesMaster1.xml" Id="R3849b255080a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d2d7dbe644b21" /><Relationship Type="http://schemas.openxmlformats.org/officeDocument/2006/relationships/notesMaster" Target="/ppt/notesMasters/notesMaster1.xml" Id="Rbafdab4656424e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Task documents and repository implementation records.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Replace calculation inputs with team-verified statistics and official source citations before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61ac489224e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729b3bfb44f7e" /><Relationship Type="http://schemas.openxmlformats.org/officeDocument/2006/relationships/slideLayout" Target="/ppt/slideLayouts/slideLayout1.xml" Id="Re75088acc23748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088acc23748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2072beae94e1f" /><Relationship Type="http://schemas.openxmlformats.org/officeDocument/2006/relationships/notesSlide" Target="/ppt/notesSlides/notesSlide1.xml" Id="R66998f0cf62048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7d8ba133a4079" /><Relationship Type="http://schemas.openxmlformats.org/officeDocument/2006/relationships/notesSlide" Target="/ppt/notesSlides/notesSlide2.xml" Id="R31f2b5edfb544b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3CF2EA4E-C591-49A9-B903-2B8EE21A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66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2"/>
                </a:solidFill>
              </a:defRPr>
            </a:pPr>
            <a:r>
              <a:rPr sz="975" b="1">
                <a:solidFill>
                  <a:srgbClr val="2F8A52"/>
                </a:solidFill>
              </a:rPr>
              <a:t>HOW WE BUILT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68417F-A500-4EF8-A9A2-ACD836D6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E29"/>
                </a:solidFill>
              </a:defRPr>
            </a:pPr>
            <a:r>
              <a:rPr sz="2700" b="1">
                <a:solidFill>
                  <a:srgbClr val="173E29"/>
                </a:solidFill>
              </a:rPr>
              <a:t>바이브코딩으로 빠르게 만들고, 팀의 검증으로 완성했습니다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4D01072-E09D-4A95-B096-E336CF09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F3567037-2D06-49D2-B63F-6C1885AA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8A52"/>
                </a:solidFill>
              </a:defRPr>
            </a:pPr>
            <a:r>
              <a:rPr sz="1425" b="1">
                <a:solidFill>
                  <a:srgbClr val="2F8A52"/>
                </a:solidFill>
              </a:rPr>
              <a:t>역할은 나누되, 결과는 하나의 사용자 흐름으로 통합</a:t>
            </a:r>
          </a:p>
        </p:txBody>
      </p:sp>
      <p:sp>
        <p:nvSpPr>
          <p:cNvPr id="5" name="role-0">
            <a:extLst xmlns:a="http://schemas.openxmlformats.org/drawingml/2006/main">
              <a:ext uri="{FF2B5EF4-FFF2-40B4-BE49-F238E27FC236}">
                <a16:creationId xmlns:a16="http://schemas.microsoft.com/office/drawing/2014/main" id="{8B3E5F3A-35C4-4196-977A-DB2EBF8B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90600" cy="10668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C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63A"/>
                </a:solidFill>
              </a:defRPr>
            </a:pPr>
            <a:r>
              <a:rPr sz="1200" b="1">
                <a:solidFill>
                  <a:srgbClr val="24563A"/>
                </a:solidFill>
              </a:rPr>
              <a:t>기획</a:t>
            </a:r>
          </a:p>
          <a:p xmlns:a="http://schemas.openxmlformats.org/drawingml/2006/main">
            <a:pPr algn="ctr">
              <a:defRPr sz="1200" b="1">
                <a:solidFill>
                  <a:srgbClr val="24563A"/>
                </a:solidFill>
              </a:defRPr>
            </a:pPr>
            <a:r>
              <a:rPr sz="1200" b="1">
                <a:solidFill>
                  <a:srgbClr val="24563A"/>
                </a:solidFill>
              </a:rPr>
              <a:t>디자인</a:t>
            </a:r>
          </a:p>
        </p:txBody>
      </p:sp>
      <p:sp>
        <p:nvSpPr>
          <p:cNvPr id="6" name="role-arrow-0">
            <a:extLst xmlns:a="http://schemas.openxmlformats.org/drawingml/2006/main">
              <a:ext uri="{FF2B5EF4-FFF2-40B4-BE49-F238E27FC236}">
                <a16:creationId xmlns:a16="http://schemas.microsoft.com/office/drawing/2014/main" id="{9D64FD62-7BB9-4F2D-8AE8-52C7C393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-1">
            <a:extLst xmlns:a="http://schemas.openxmlformats.org/drawingml/2006/main">
              <a:ext uri="{FF2B5EF4-FFF2-40B4-BE49-F238E27FC236}">
                <a16:creationId xmlns:a16="http://schemas.microsoft.com/office/drawing/2014/main" id="{C885F147-7424-4575-9509-2719C432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66950"/>
            <a:ext cx="990600" cy="10668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C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63A"/>
                </a:solidFill>
              </a:defRPr>
            </a:pPr>
            <a:r>
              <a:rPr sz="1200" b="1">
                <a:solidFill>
                  <a:srgbClr val="24563A"/>
                </a:solidFill>
              </a:rPr>
              <a:t>Android</a:t>
            </a:r>
          </a:p>
          <a:p xmlns:a="http://schemas.openxmlformats.org/drawingml/2006/main">
            <a:pPr algn="ctr">
              <a:defRPr sz="1200" b="1">
                <a:solidFill>
                  <a:srgbClr val="24563A"/>
                </a:solidFill>
              </a:defRPr>
            </a:pPr>
            <a:r>
              <a:rPr sz="1200" b="1">
                <a:solidFill>
                  <a:srgbClr val="24563A"/>
                </a:solidFill>
              </a:rPr>
              <a:t>Meta</a:t>
            </a:r>
          </a:p>
        </p:txBody>
      </p:sp>
      <p:sp>
        <p:nvSpPr>
          <p:cNvPr id="8" name="role-arrow-1">
            <a:extLst xmlns:a="http://schemas.openxmlformats.org/drawingml/2006/main">
              <a:ext uri="{FF2B5EF4-FFF2-40B4-BE49-F238E27FC236}">
                <a16:creationId xmlns:a16="http://schemas.microsoft.com/office/drawing/2014/main" id="{6AFBD1A7-5C87-4776-8042-FF63B19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">
            <a:extLst xmlns:a="http://schemas.openxmlformats.org/drawingml/2006/main">
              <a:ext uri="{FF2B5EF4-FFF2-40B4-BE49-F238E27FC236}">
                <a16:creationId xmlns:a16="http://schemas.microsoft.com/office/drawing/2014/main" id="{8FD67919-1844-4D9D-9443-BAC5A8FE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66950"/>
            <a:ext cx="990600" cy="10668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C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63A"/>
                </a:solidFill>
              </a:defRPr>
            </a:pPr>
            <a:r>
              <a:rPr sz="1200" b="1">
                <a:solidFill>
                  <a:srgbClr val="24563A"/>
                </a:solidFill>
              </a:rPr>
              <a:t>백엔드</a:t>
            </a:r>
          </a:p>
        </p:txBody>
      </p:sp>
      <p:sp>
        <p:nvSpPr>
          <p:cNvPr id="10" name="role-arrow-2">
            <a:extLst xmlns:a="http://schemas.openxmlformats.org/drawingml/2006/main">
              <a:ext uri="{FF2B5EF4-FFF2-40B4-BE49-F238E27FC236}">
                <a16:creationId xmlns:a16="http://schemas.microsoft.com/office/drawing/2014/main" id="{D50C9A4C-8018-4518-ACC0-5EB337CF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3">
            <a:extLst xmlns:a="http://schemas.openxmlformats.org/drawingml/2006/main">
              <a:ext uri="{FF2B5EF4-FFF2-40B4-BE49-F238E27FC236}">
                <a16:creationId xmlns:a16="http://schemas.microsoft.com/office/drawing/2014/main" id="{D96A08BC-BE0A-408C-8EA9-3035C50A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990600" cy="10668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C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63A"/>
                </a:solidFill>
              </a:defRPr>
            </a:pPr>
            <a:r>
              <a:rPr sz="1200" b="1">
                <a:solidFill>
                  <a:srgbClr val="24563A"/>
                </a:solidFill>
              </a:rPr>
              <a:t>AI</a:t>
            </a:r>
          </a:p>
        </p:txBody>
      </p:sp>
      <p:sp>
        <p:nvSpPr>
          <p:cNvPr id="12" name="role-arrow-3">
            <a:extLst xmlns:a="http://schemas.openxmlformats.org/drawingml/2006/main">
              <a:ext uri="{FF2B5EF4-FFF2-40B4-BE49-F238E27FC236}">
                <a16:creationId xmlns:a16="http://schemas.microsoft.com/office/drawing/2014/main" id="{6562C099-EE73-4595-AEAD-FD7E21D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le-4">
            <a:extLst xmlns:a="http://schemas.openxmlformats.org/drawingml/2006/main">
              <a:ext uri="{FF2B5EF4-FFF2-40B4-BE49-F238E27FC236}">
                <a16:creationId xmlns:a16="http://schemas.microsoft.com/office/drawing/2014/main" id="{D2D834C2-7399-4A3E-8668-0E581D9A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990600" cy="10668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F8A52"/>
          </a:solidFill>
          <a:ln xmlns:a="http://schemas.openxmlformats.org/drawingml/2006/main" w="9525">
            <a:solidFill>
              <a:srgbClr val="2F8A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통합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검증</a:t>
            </a:r>
          </a:p>
        </p:txBody>
      </p:sp>
      <p:sp>
        <p:nvSpPr>
          <p:cNvPr id="14" name="verification-panel">
            <a:extLst xmlns:a="http://schemas.openxmlformats.org/drawingml/2006/main">
              <a:ext uri="{FF2B5EF4-FFF2-40B4-BE49-F238E27FC236}">
                <a16:creationId xmlns:a16="http://schemas.microsoft.com/office/drawing/2014/main" id="{E2AF7A2E-8202-4400-BE6B-11493E9E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4577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C1"/>
            </a:solidFill>
            <a:prstDash val="solid"/>
          </a:ln>
        </p:spPr>
      </p:sp>
      <p:sp>
        <p:nvSpPr>
          <p:cNvPr id="15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17F9A9ED-2C63-415A-9014-93D0F9C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63A"/>
                </a:solidFill>
              </a:defRPr>
            </a:pPr>
            <a:r>
              <a:rPr sz="1800" b="1">
                <a:solidFill>
                  <a:srgbClr val="24563A"/>
                </a:solidFill>
              </a:rPr>
              <a:t>개발 방식</a:t>
            </a:r>
          </a:p>
        </p:txBody>
      </p:sp>
      <p:sp>
        <p:nvSpPr>
          <p:cNvPr id="16" name="practice-dot-0">
            <a:extLst xmlns:a="http://schemas.openxmlformats.org/drawingml/2006/main">
              <a:ext uri="{FF2B5EF4-FFF2-40B4-BE49-F238E27FC236}">
                <a16:creationId xmlns:a16="http://schemas.microsoft.com/office/drawing/2014/main" id="{D3E06116-ED8E-458B-B1DB-60B2D3CD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050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practice-0">
            <a:extLst xmlns:a="http://schemas.openxmlformats.org/drawingml/2006/main">
              <a:ext uri="{FF2B5EF4-FFF2-40B4-BE49-F238E27FC236}">
                <a16:creationId xmlns:a16="http://schemas.microsoft.com/office/drawing/2014/main" id="{296343C2-C9F7-44EF-84BD-1E15CC4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84234"/>
                </a:solidFill>
              </a:defRPr>
            </a:pPr>
            <a:r>
              <a:rPr sz="1200">
                <a:solidFill>
                  <a:srgbClr val="284234"/>
                </a:solidFill>
              </a:rPr>
              <a:t>Task 문서로 요구사항·완료 기준 관리</a:t>
            </a:r>
          </a:p>
        </p:txBody>
      </p:sp>
      <p:sp>
        <p:nvSpPr>
          <p:cNvPr id="18" name="practice-dot-1">
            <a:extLst xmlns:a="http://schemas.openxmlformats.org/drawingml/2006/main">
              <a:ext uri="{FF2B5EF4-FFF2-40B4-BE49-F238E27FC236}">
                <a16:creationId xmlns:a16="http://schemas.microsoft.com/office/drawing/2014/main" id="{1E407463-BD91-4D60-B45A-52AAE80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479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practice-1">
            <a:extLst xmlns:a="http://schemas.openxmlformats.org/drawingml/2006/main">
              <a:ext uri="{FF2B5EF4-FFF2-40B4-BE49-F238E27FC236}">
                <a16:creationId xmlns:a16="http://schemas.microsoft.com/office/drawing/2014/main" id="{5DB9AD8F-8157-4052-97A8-0E382905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84234"/>
                </a:solidFill>
              </a:defRPr>
            </a:pPr>
            <a:r>
              <a:rPr sz="1200">
                <a:solidFill>
                  <a:srgbClr val="284234"/>
                </a:solidFill>
              </a:rPr>
              <a:t>OpenAPI로 Android·서버 계약 통일</a:t>
            </a:r>
          </a:p>
        </p:txBody>
      </p:sp>
      <p:sp>
        <p:nvSpPr>
          <p:cNvPr id="20" name="practice-dot-2">
            <a:extLst xmlns:a="http://schemas.openxmlformats.org/drawingml/2006/main">
              <a:ext uri="{FF2B5EF4-FFF2-40B4-BE49-F238E27FC236}">
                <a16:creationId xmlns:a16="http://schemas.microsoft.com/office/drawing/2014/main" id="{D9E725FF-DB34-4E69-B262-A8F811CF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90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practice-2">
            <a:extLst xmlns:a="http://schemas.openxmlformats.org/drawingml/2006/main">
              <a:ext uri="{FF2B5EF4-FFF2-40B4-BE49-F238E27FC236}">
                <a16:creationId xmlns:a16="http://schemas.microsoft.com/office/drawing/2014/main" id="{3F95CBC4-03FB-4ADB-A7B3-02EE0BD9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84234"/>
                </a:solidFill>
              </a:defRPr>
            </a:pPr>
            <a:r>
              <a:rPr sz="1200">
                <a:solidFill>
                  <a:srgbClr val="284234"/>
                </a:solidFill>
              </a:rPr>
              <a:t>AI로 초안·오류 분석·테스트 보조</a:t>
            </a:r>
          </a:p>
        </p:txBody>
      </p:sp>
      <p:sp>
        <p:nvSpPr>
          <p:cNvPr id="22" name="practice-dot-3">
            <a:extLst xmlns:a="http://schemas.openxmlformats.org/drawingml/2006/main">
              <a:ext uri="{FF2B5EF4-FFF2-40B4-BE49-F238E27FC236}">
                <a16:creationId xmlns:a16="http://schemas.microsoft.com/office/drawing/2014/main" id="{22EE94EE-84D9-4D11-B867-E59D94FD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337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practice-3">
            <a:extLst xmlns:a="http://schemas.openxmlformats.org/drawingml/2006/main">
              <a:ext uri="{FF2B5EF4-FFF2-40B4-BE49-F238E27FC236}">
                <a16:creationId xmlns:a16="http://schemas.microsoft.com/office/drawing/2014/main" id="{DE4C3FEA-AA4F-4854-B509-D767E616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84234"/>
                </a:solidFill>
              </a:defRPr>
            </a:pPr>
            <a:r>
              <a:rPr sz="1200">
                <a:solidFill>
                  <a:srgbClr val="284234"/>
                </a:solidFill>
              </a:rPr>
              <a:t>팀원이 빌드·테스트 결과 최종 확인</a:t>
            </a:r>
          </a:p>
        </p:txBody>
      </p:sp>
      <p:sp>
        <p:nvSpPr>
          <p:cNvPr id="24" name="vibe-message">
            <a:extLst xmlns:a="http://schemas.openxmlformats.org/drawingml/2006/main">
              <a:ext uri="{FF2B5EF4-FFF2-40B4-BE49-F238E27FC236}">
                <a16:creationId xmlns:a16="http://schemas.microsoft.com/office/drawing/2014/main" id="{094104FC-16AE-4BEF-BDEE-26B722A8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966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C6E2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63A"/>
                </a:solidFill>
              </a:defRPr>
            </a:pPr>
            <a:r>
              <a:rPr sz="1875" b="1">
                <a:solidFill>
                  <a:srgbClr val="24563A"/>
                </a:solidFill>
              </a:rPr>
              <a:t>바이브코딩은 속도를 높였고, 계약 문서와 테스트는 팀이 책임졌습니다.</a:t>
            </a:r>
          </a:p>
        </p:txBody>
      </p:sp>
      <p:sp>
        <p:nvSpPr>
          <p:cNvPr id="25" name="tech-caption">
            <a:extLst xmlns:a="http://schemas.openxmlformats.org/drawingml/2006/main">
              <a:ext uri="{FF2B5EF4-FFF2-40B4-BE49-F238E27FC236}">
                <a16:creationId xmlns:a16="http://schemas.microsoft.com/office/drawing/2014/main" id="{84F7B628-1BED-41ED-840C-5808ECDC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7062"/>
                </a:solidFill>
              </a:defRPr>
            </a:pPr>
            <a:r>
              <a:rPr sz="1275" b="1">
                <a:solidFill>
                  <a:srgbClr val="5B7062"/>
                </a:solidFill>
              </a:rPr>
              <a:t>핵심 기술</a:t>
            </a:r>
          </a:p>
        </p:txBody>
      </p:sp>
      <p:sp>
        <p:nvSpPr>
          <p:cNvPr id="26" name="tech-0">
            <a:extLst xmlns:a="http://schemas.openxmlformats.org/drawingml/2006/main">
              <a:ext uri="{FF2B5EF4-FFF2-40B4-BE49-F238E27FC236}">
                <a16:creationId xmlns:a16="http://schemas.microsoft.com/office/drawing/2014/main" id="{B602E6A8-70BB-44C8-8BFE-2E090CF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391150"/>
            <a:ext cx="13811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52"/>
                </a:solidFill>
              </a:defRPr>
            </a:pPr>
            <a:r>
              <a:rPr sz="1125" b="1">
                <a:solidFill>
                  <a:srgbClr val="2F8A52"/>
                </a:solidFill>
              </a:rPr>
              <a:t>Android · Kotlin</a:t>
            </a:r>
          </a:p>
        </p:txBody>
      </p:sp>
      <p:sp>
        <p:nvSpPr>
          <p:cNvPr id="27" name="tech-1">
            <a:extLst xmlns:a="http://schemas.openxmlformats.org/drawingml/2006/main">
              <a:ext uri="{FF2B5EF4-FFF2-40B4-BE49-F238E27FC236}">
                <a16:creationId xmlns:a16="http://schemas.microsoft.com/office/drawing/2014/main" id="{A931406E-AF1F-4B7A-AA9C-93595A00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13811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52"/>
                </a:solidFill>
              </a:defRPr>
            </a:pPr>
            <a:r>
              <a:rPr sz="1125" b="1">
                <a:solidFill>
                  <a:srgbClr val="2F8A52"/>
                </a:solidFill>
              </a:rPr>
              <a:t>Meta AI Glasses</a:t>
            </a:r>
          </a:p>
        </p:txBody>
      </p:sp>
      <p:sp>
        <p:nvSpPr>
          <p:cNvPr id="28" name="tech-2">
            <a:extLst xmlns:a="http://schemas.openxmlformats.org/drawingml/2006/main">
              <a:ext uri="{FF2B5EF4-FFF2-40B4-BE49-F238E27FC236}">
                <a16:creationId xmlns:a16="http://schemas.microsoft.com/office/drawing/2014/main" id="{88F933FD-C265-4DB9-9A73-9D5ED9C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391150"/>
            <a:ext cx="12001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52"/>
                </a:solidFill>
              </a:defRPr>
            </a:pPr>
            <a:r>
              <a:rPr sz="1125" b="1">
                <a:solidFill>
                  <a:srgbClr val="2F8A52"/>
                </a:solidFill>
              </a:rPr>
              <a:t>Spring Boot</a:t>
            </a:r>
          </a:p>
        </p:txBody>
      </p:sp>
      <p:sp>
        <p:nvSpPr>
          <p:cNvPr id="29" name="tech-3">
            <a:extLst xmlns:a="http://schemas.openxmlformats.org/drawingml/2006/main">
              <a:ext uri="{FF2B5EF4-FFF2-40B4-BE49-F238E27FC236}">
                <a16:creationId xmlns:a16="http://schemas.microsoft.com/office/drawing/2014/main" id="{B8F98D88-762D-48B1-BBA8-A010CF0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391150"/>
            <a:ext cx="11239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52"/>
                </a:solidFill>
              </a:defRPr>
            </a:pPr>
            <a:r>
              <a:rPr sz="1125" b="1">
                <a:solidFill>
                  <a:srgbClr val="2F8A52"/>
                </a:solidFill>
              </a:rPr>
              <a:t>PostgreSQL</a:t>
            </a:r>
          </a:p>
        </p:txBody>
      </p:sp>
      <p:sp>
        <p:nvSpPr>
          <p:cNvPr id="30" name="tech-4">
            <a:extLst xmlns:a="http://schemas.openxmlformats.org/drawingml/2006/main">
              <a:ext uri="{FF2B5EF4-FFF2-40B4-BE49-F238E27FC236}">
                <a16:creationId xmlns:a16="http://schemas.microsoft.com/office/drawing/2014/main" id="{DD063075-A58A-41FF-BF75-309E4482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91150"/>
            <a:ext cx="11620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52"/>
                </a:solidFill>
              </a:defRPr>
            </a:pPr>
            <a:r>
              <a:rPr sz="1125" b="1">
                <a:solidFill>
                  <a:srgbClr val="2F8A52"/>
                </a:solidFill>
              </a:rPr>
              <a:t>Python · YOLO</a:t>
            </a:r>
          </a:p>
        </p:txBody>
      </p:sp>
      <p:sp>
        <p:nvSpPr>
          <p:cNvPr id="31" name="tech-5">
            <a:extLst xmlns:a="http://schemas.openxmlformats.org/drawingml/2006/main">
              <a:ext uri="{FF2B5EF4-FFF2-40B4-BE49-F238E27FC236}">
                <a16:creationId xmlns:a16="http://schemas.microsoft.com/office/drawing/2014/main" id="{DCC31C6D-BE69-428C-975E-0BFBCA84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391150"/>
            <a:ext cx="9334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A52"/>
                </a:solidFill>
              </a:defRPr>
            </a:pPr>
            <a:r>
              <a:rPr sz="1125" b="1">
                <a:solidFill>
                  <a:srgbClr val="2F8A52"/>
                </a:solidFill>
              </a:rPr>
              <a:t>OpenAPI</a:t>
            </a:r>
          </a:p>
        </p:txBody>
      </p:sp>
    </p:spTree>
    <p:extLst>
      <p:ext uri="{BB962C8B-B14F-4D97-AF65-F5344CB8AC3E}">
        <p14:creationId xmlns:p14="http://schemas.microsoft.com/office/powerpoint/2010/main" val="1955430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7BFC5EE7-0900-4C53-B9F1-0577C9FD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66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2"/>
                </a:solidFill>
              </a:defRPr>
            </a:pPr>
            <a:r>
              <a:rPr sz="975" b="1">
                <a:solidFill>
                  <a:srgbClr val="2F8A52"/>
                </a:solidFill>
              </a:rPr>
              <a:t>GO-TO-MARKET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4CE4C0-9331-4E5E-986B-D9F98EB8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E29"/>
                </a:solidFill>
              </a:defRPr>
            </a:pPr>
            <a:r>
              <a:rPr sz="2700" b="1">
                <a:solidFill>
                  <a:srgbClr val="173E29"/>
                </a:solidFill>
              </a:rPr>
              <a:t>글래스 구매 부담을 낮추면, 점검 기록 서비스가 확장됩니다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9D9EC9D-F7CE-492F-8E06-EBB733F6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rket-step-0">
            <a:extLst xmlns:a="http://schemas.openxmlformats.org/drawingml/2006/main">
              <a:ext uri="{FF2B5EF4-FFF2-40B4-BE49-F238E27FC236}">
                <a16:creationId xmlns:a16="http://schemas.microsoft.com/office/drawing/2014/main" id="{D14A6899-908D-4B62-8C54-4F7CF7E1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9C4"/>
            </a:solidFill>
            <a:prstDash val="solid"/>
          </a:ln>
        </p:spPr>
      </p:sp>
      <p:sp>
        <p:nvSpPr>
          <p:cNvPr id="5" name="market-label-0">
            <a:extLst xmlns:a="http://schemas.openxmlformats.org/drawingml/2006/main">
              <a:ext uri="{FF2B5EF4-FFF2-40B4-BE49-F238E27FC236}">
                <a16:creationId xmlns:a16="http://schemas.microsoft.com/office/drawing/2014/main" id="{E6FB77DA-234F-4478-9D99-84DBA2C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062"/>
                </a:solidFill>
              </a:defRPr>
            </a:pPr>
            <a:r>
              <a:rPr sz="1275" b="1">
                <a:solidFill>
                  <a:srgbClr val="5B7062"/>
                </a:solidFill>
              </a:rPr>
              <a:t>초기 사용자</a:t>
            </a:r>
          </a:p>
        </p:txBody>
      </p:sp>
      <p:sp>
        <p:nvSpPr>
          <p:cNvPr id="6" name="market-body-0">
            <a:extLst xmlns:a="http://schemas.openxmlformats.org/drawingml/2006/main">
              <a:ext uri="{FF2B5EF4-FFF2-40B4-BE49-F238E27FC236}">
                <a16:creationId xmlns:a16="http://schemas.microsoft.com/office/drawing/2014/main" id="{EC4D9CA5-C813-4F60-8142-BEFE44A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63A"/>
                </a:solidFill>
              </a:defRPr>
            </a:pPr>
            <a:r>
              <a:rPr sz="1725" b="1">
                <a:solidFill>
                  <a:srgbClr val="24563A"/>
                </a:solidFill>
              </a:rPr>
              <a:t>첫 자취생</a:t>
            </a:r>
          </a:p>
          <a:p xmlns:a="http://schemas.openxmlformats.org/drawingml/2006/main">
            <a:pPr algn="ctr">
              <a:defRPr sz="1725" b="1">
                <a:solidFill>
                  <a:srgbClr val="24563A"/>
                </a:solidFill>
              </a:defRPr>
            </a:pPr>
            <a:r>
              <a:rPr sz="1725" b="1">
                <a:solidFill>
                  <a:srgbClr val="24563A"/>
                </a:solidFill>
              </a:rPr>
              <a:t>청년 1인 가구</a:t>
            </a:r>
          </a:p>
        </p:txBody>
      </p:sp>
      <p:sp>
        <p:nvSpPr>
          <p:cNvPr id="7" name="market-arrow-0">
            <a:extLst xmlns:a="http://schemas.openxmlformats.org/drawingml/2006/main">
              <a:ext uri="{FF2B5EF4-FFF2-40B4-BE49-F238E27FC236}">
                <a16:creationId xmlns:a16="http://schemas.microsoft.com/office/drawing/2014/main" id="{76824800-452F-4165-934D-8AB5115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rket-step-1">
            <a:extLst xmlns:a="http://schemas.openxmlformats.org/drawingml/2006/main">
              <a:ext uri="{FF2B5EF4-FFF2-40B4-BE49-F238E27FC236}">
                <a16:creationId xmlns:a16="http://schemas.microsoft.com/office/drawing/2014/main" id="{8421BCC4-9611-4F7C-9B46-6EC424CD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BCD9C4"/>
            </a:solidFill>
            <a:prstDash val="solid"/>
          </a:ln>
        </p:spPr>
      </p:sp>
      <p:sp>
        <p:nvSpPr>
          <p:cNvPr id="9" name="market-label-1">
            <a:extLst xmlns:a="http://schemas.openxmlformats.org/drawingml/2006/main">
              <a:ext uri="{FF2B5EF4-FFF2-40B4-BE49-F238E27FC236}">
                <a16:creationId xmlns:a16="http://schemas.microsoft.com/office/drawing/2014/main" id="{D1137615-B12B-4BC7-BC6F-F9D7A95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062"/>
                </a:solidFill>
              </a:defRPr>
            </a:pPr>
            <a:r>
              <a:rPr sz="1275" b="1">
                <a:solidFill>
                  <a:srgbClr val="5B7062"/>
                </a:solidFill>
              </a:rPr>
              <a:t>진입 장벽</a:t>
            </a:r>
          </a:p>
        </p:txBody>
      </p:sp>
      <p:sp>
        <p:nvSpPr>
          <p:cNvPr id="10" name="market-body-1">
            <a:extLst xmlns:a="http://schemas.openxmlformats.org/drawingml/2006/main">
              <a:ext uri="{FF2B5EF4-FFF2-40B4-BE49-F238E27FC236}">
                <a16:creationId xmlns:a16="http://schemas.microsoft.com/office/drawing/2014/main" id="{A44CE212-999D-4F83-8CA6-02781921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85422"/>
                </a:solidFill>
              </a:defRPr>
            </a:pPr>
            <a:r>
              <a:rPr sz="1725" b="1">
                <a:solidFill>
                  <a:srgbClr val="A85422"/>
                </a:solidFill>
              </a:rPr>
              <a:t>AI 글래스</a:t>
            </a:r>
          </a:p>
          <a:p xmlns:a="http://schemas.openxmlformats.org/drawingml/2006/main">
            <a:pPr algn="ctr">
              <a:defRPr sz="1725" b="1">
                <a:solidFill>
                  <a:srgbClr val="A85422"/>
                </a:solidFill>
              </a:defRPr>
            </a:pPr>
            <a:r>
              <a:rPr sz="1725" b="1">
                <a:solidFill>
                  <a:srgbClr val="A85422"/>
                </a:solidFill>
              </a:rPr>
              <a:t>직접 구매 부담</a:t>
            </a:r>
          </a:p>
        </p:txBody>
      </p:sp>
      <p:sp>
        <p:nvSpPr>
          <p:cNvPr id="11" name="market-arrow-1">
            <a:extLst xmlns:a="http://schemas.openxmlformats.org/drawingml/2006/main">
              <a:ext uri="{FF2B5EF4-FFF2-40B4-BE49-F238E27FC236}">
                <a16:creationId xmlns:a16="http://schemas.microsoft.com/office/drawing/2014/main" id="{59D4A143-B649-4EFF-A022-B8B12F40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rket-step-2">
            <a:extLst xmlns:a="http://schemas.openxmlformats.org/drawingml/2006/main">
              <a:ext uri="{FF2B5EF4-FFF2-40B4-BE49-F238E27FC236}">
                <a16:creationId xmlns:a16="http://schemas.microsoft.com/office/drawing/2014/main" id="{B4858F1F-8521-4CAA-8872-294F407B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8120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BCD9C4"/>
            </a:solidFill>
            <a:prstDash val="solid"/>
          </a:ln>
        </p:spPr>
      </p:sp>
      <p:sp>
        <p:nvSpPr>
          <p:cNvPr id="13" name="market-label-2">
            <a:extLst xmlns:a="http://schemas.openxmlformats.org/drawingml/2006/main">
              <a:ext uri="{FF2B5EF4-FFF2-40B4-BE49-F238E27FC236}">
                <a16:creationId xmlns:a16="http://schemas.microsoft.com/office/drawing/2014/main" id="{39037910-55CF-4B41-AB4C-ED94F857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7062"/>
                </a:solidFill>
              </a:defRPr>
            </a:pPr>
            <a:r>
              <a:rPr sz="1275" b="1">
                <a:solidFill>
                  <a:srgbClr val="5B7062"/>
                </a:solidFill>
              </a:rPr>
              <a:t>초기 제공 방식</a:t>
            </a:r>
          </a:p>
        </p:txBody>
      </p:sp>
      <p:sp>
        <p:nvSpPr>
          <p:cNvPr id="14" name="market-body-2">
            <a:extLst xmlns:a="http://schemas.openxmlformats.org/drawingml/2006/main">
              <a:ext uri="{FF2B5EF4-FFF2-40B4-BE49-F238E27FC236}">
                <a16:creationId xmlns:a16="http://schemas.microsoft.com/office/drawing/2014/main" id="{8D0C4FD2-37E2-4515-8CEC-FAEDF233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63A"/>
                </a:solidFill>
              </a:defRPr>
            </a:pPr>
            <a:r>
              <a:rPr sz="1725" b="1">
                <a:solidFill>
                  <a:srgbClr val="24563A"/>
                </a:solidFill>
              </a:rPr>
              <a:t>기관을 통한</a:t>
            </a:r>
          </a:p>
          <a:p xmlns:a="http://schemas.openxmlformats.org/drawingml/2006/main">
            <a:pPr algn="ctr">
              <a:defRPr sz="1725" b="1">
                <a:solidFill>
                  <a:srgbClr val="24563A"/>
                </a:solidFill>
              </a:defRPr>
            </a:pPr>
            <a:r>
              <a:rPr sz="1725" b="1">
                <a:solidFill>
                  <a:srgbClr val="24563A"/>
                </a:solidFill>
              </a:rPr>
              <a:t>단기 대여</a:t>
            </a:r>
          </a:p>
        </p:txBody>
      </p:sp>
      <p:sp>
        <p:nvSpPr>
          <p:cNvPr id="15" name="market-arrow-2">
            <a:extLst xmlns:a="http://schemas.openxmlformats.org/drawingml/2006/main">
              <a:ext uri="{FF2B5EF4-FFF2-40B4-BE49-F238E27FC236}">
                <a16:creationId xmlns:a16="http://schemas.microsoft.com/office/drawing/2014/main" id="{DE269ABC-838D-4E22-A7F7-FD40F6BA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8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rket-step-3">
            <a:extLst xmlns:a="http://schemas.openxmlformats.org/drawingml/2006/main">
              <a:ext uri="{FF2B5EF4-FFF2-40B4-BE49-F238E27FC236}">
                <a16:creationId xmlns:a16="http://schemas.microsoft.com/office/drawing/2014/main" id="{BD826152-773F-41F1-AAB6-582A8354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81200"/>
            <a:ext cx="2400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2F8A52"/>
          </a:solidFill>
          <a:ln xmlns:a="http://schemas.openxmlformats.org/drawingml/2006/main" w="9525">
            <a:solidFill>
              <a:srgbClr val="2F8A52"/>
            </a:solidFill>
            <a:prstDash val="solid"/>
          </a:ln>
        </p:spPr>
      </p:sp>
      <p:sp>
        <p:nvSpPr>
          <p:cNvPr id="17" name="market-label-3">
            <a:extLst xmlns:a="http://schemas.openxmlformats.org/drawingml/2006/main">
              <a:ext uri="{FF2B5EF4-FFF2-40B4-BE49-F238E27FC236}">
                <a16:creationId xmlns:a16="http://schemas.microsoft.com/office/drawing/2014/main" id="{ED896347-185F-4E3E-808C-811C9651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F1DF"/>
                </a:solidFill>
              </a:defRPr>
            </a:pPr>
            <a:r>
              <a:rPr sz="1275" b="1">
                <a:solidFill>
                  <a:srgbClr val="D8F1DF"/>
                </a:solidFill>
              </a:rPr>
              <a:t>확장</a:t>
            </a:r>
          </a:p>
        </p:txBody>
      </p:sp>
      <p:sp>
        <p:nvSpPr>
          <p:cNvPr id="18" name="market-body-3">
            <a:extLst xmlns:a="http://schemas.openxmlformats.org/drawingml/2006/main">
              <a:ext uri="{FF2B5EF4-FFF2-40B4-BE49-F238E27FC236}">
                <a16:creationId xmlns:a16="http://schemas.microsoft.com/office/drawing/2014/main" id="{F7947400-85C0-4D26-BECE-789A39F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입주 점검 · 주택관리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기관 상담 기록</a:t>
            </a:r>
          </a:p>
        </p:txBody>
      </p:sp>
      <p:sp>
        <p:nvSpPr>
          <p:cNvPr id="19" name="market-formula">
            <a:extLst xmlns:a="http://schemas.openxmlformats.org/drawingml/2006/main">
              <a:ext uri="{FF2B5EF4-FFF2-40B4-BE49-F238E27FC236}">
                <a16:creationId xmlns:a16="http://schemas.microsoft.com/office/drawing/2014/main" id="{B7175065-EE65-4739-A22F-49D0017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9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C1"/>
            </a:solidFill>
            <a:prstDash val="solid"/>
          </a:ln>
        </p:spPr>
      </p:sp>
      <p:sp>
        <p:nvSpPr>
          <p:cNvPr id="20" name="formula-title">
            <a:extLst xmlns:a="http://schemas.openxmlformats.org/drawingml/2006/main">
              <a:ext uri="{FF2B5EF4-FFF2-40B4-BE49-F238E27FC236}">
                <a16:creationId xmlns:a16="http://schemas.microsoft.com/office/drawing/2014/main" id="{C5116B1B-3C06-4899-AB13-AB9889F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63A"/>
                </a:solidFill>
              </a:defRPr>
            </a:pPr>
            <a:r>
              <a:rPr sz="1800" b="1">
                <a:solidFill>
                  <a:srgbClr val="24563A"/>
                </a:solidFill>
              </a:rPr>
              <a:t>시장 규모는 숫자 하나가 아니라, 계산 근거로 보여줍니다</a:t>
            </a:r>
          </a:p>
        </p:txBody>
      </p:sp>
      <p:sp>
        <p:nvSpPr>
          <p:cNvPr id="21" name="factor-label-0">
            <a:extLst xmlns:a="http://schemas.openxmlformats.org/drawingml/2006/main">
              <a:ext uri="{FF2B5EF4-FFF2-40B4-BE49-F238E27FC236}">
                <a16:creationId xmlns:a16="http://schemas.microsoft.com/office/drawing/2014/main" id="{0354CE0F-6957-4316-ACBE-6162E10D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10287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2"/>
                </a:solidFill>
              </a:defRPr>
            </a:pPr>
            <a:r>
              <a:rPr sz="975" b="1">
                <a:solidFill>
                  <a:srgbClr val="2F8A52"/>
                </a:solidFill>
              </a:rPr>
              <a:t>① 대상</a:t>
            </a:r>
          </a:p>
        </p:txBody>
      </p:sp>
      <p:sp>
        <p:nvSpPr>
          <p:cNvPr id="22" name="factor-body-0">
            <a:extLst xmlns:a="http://schemas.openxmlformats.org/drawingml/2006/main">
              <a:ext uri="{FF2B5EF4-FFF2-40B4-BE49-F238E27FC236}">
                <a16:creationId xmlns:a16="http://schemas.microsoft.com/office/drawing/2014/main" id="{8A69283E-ADD9-4D82-A3D2-DBCB4B6C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4234"/>
                </a:solidFill>
              </a:defRPr>
            </a:pPr>
            <a:r>
              <a:rPr sz="1275" b="1">
                <a:solidFill>
                  <a:srgbClr val="284234"/>
                </a:solidFill>
              </a:rPr>
              <a:t>청년 1인 가구 수</a:t>
            </a:r>
          </a:p>
        </p:txBody>
      </p:sp>
      <p:sp>
        <p:nvSpPr>
          <p:cNvPr id="23" name="factor-times-0">
            <a:extLst xmlns:a="http://schemas.openxmlformats.org/drawingml/2006/main">
              <a:ext uri="{FF2B5EF4-FFF2-40B4-BE49-F238E27FC236}">
                <a16:creationId xmlns:a16="http://schemas.microsoft.com/office/drawing/2014/main" id="{7201AF4E-4366-4C8C-A8DC-A044BD32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972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823A"/>
                </a:solidFill>
              </a:defRPr>
            </a:pPr>
            <a:r>
              <a:rPr sz="1800" b="1">
                <a:solidFill>
                  <a:srgbClr val="F5823A"/>
                </a:solidFill>
              </a:rPr>
              <a:t>×</a:t>
            </a:r>
          </a:p>
        </p:txBody>
      </p:sp>
      <p:sp>
        <p:nvSpPr>
          <p:cNvPr id="24" name="factor-label-1">
            <a:extLst xmlns:a="http://schemas.openxmlformats.org/drawingml/2006/main">
              <a:ext uri="{FF2B5EF4-FFF2-40B4-BE49-F238E27FC236}">
                <a16:creationId xmlns:a16="http://schemas.microsoft.com/office/drawing/2014/main" id="{926F3E41-EF3D-4FAC-8E87-27B6B59E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10287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2"/>
                </a:solidFill>
              </a:defRPr>
            </a:pPr>
            <a:r>
              <a:rPr sz="975" b="1">
                <a:solidFill>
                  <a:srgbClr val="2F8A52"/>
                </a:solidFill>
              </a:rPr>
              <a:t>② 이용</a:t>
            </a:r>
          </a:p>
        </p:txBody>
      </p:sp>
      <p:sp>
        <p:nvSpPr>
          <p:cNvPr id="25" name="factor-body-1">
            <a:extLst xmlns:a="http://schemas.openxmlformats.org/drawingml/2006/main">
              <a:ext uri="{FF2B5EF4-FFF2-40B4-BE49-F238E27FC236}">
                <a16:creationId xmlns:a16="http://schemas.microsoft.com/office/drawing/2014/main" id="{AD975F6F-974C-4F2A-B017-C86B6E6C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67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4234"/>
                </a:solidFill>
              </a:defRPr>
            </a:pPr>
            <a:r>
              <a:rPr sz="1275" b="1">
                <a:solidFill>
                  <a:srgbClr val="284234"/>
                </a:solidFill>
              </a:rPr>
              <a:t>연간 임장 진행 비율</a:t>
            </a:r>
          </a:p>
        </p:txBody>
      </p:sp>
      <p:sp>
        <p:nvSpPr>
          <p:cNvPr id="26" name="factor-times-1">
            <a:extLst xmlns:a="http://schemas.openxmlformats.org/drawingml/2006/main">
              <a:ext uri="{FF2B5EF4-FFF2-40B4-BE49-F238E27FC236}">
                <a16:creationId xmlns:a16="http://schemas.microsoft.com/office/drawing/2014/main" id="{B9738AAD-375E-4771-924D-CB290C6E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972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823A"/>
                </a:solidFill>
              </a:defRPr>
            </a:pPr>
            <a:r>
              <a:rPr sz="1800" b="1">
                <a:solidFill>
                  <a:srgbClr val="F5823A"/>
                </a:solidFill>
              </a:rPr>
              <a:t>×</a:t>
            </a:r>
          </a:p>
        </p:txBody>
      </p:sp>
      <p:sp>
        <p:nvSpPr>
          <p:cNvPr id="27" name="factor-label-2">
            <a:extLst xmlns:a="http://schemas.openxmlformats.org/drawingml/2006/main">
              <a:ext uri="{FF2B5EF4-FFF2-40B4-BE49-F238E27FC236}">
                <a16:creationId xmlns:a16="http://schemas.microsoft.com/office/drawing/2014/main" id="{2A46E91A-8D91-40B6-BD93-4A1EC546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10287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2"/>
                </a:solidFill>
              </a:defRPr>
            </a:pPr>
            <a:r>
              <a:rPr sz="975" b="1">
                <a:solidFill>
                  <a:srgbClr val="2F8A52"/>
                </a:solidFill>
              </a:rPr>
              <a:t>③ 전환</a:t>
            </a:r>
          </a:p>
        </p:txBody>
      </p:sp>
      <p:sp>
        <p:nvSpPr>
          <p:cNvPr id="28" name="factor-body-2">
            <a:extLst xmlns:a="http://schemas.openxmlformats.org/drawingml/2006/main">
              <a:ext uri="{FF2B5EF4-FFF2-40B4-BE49-F238E27FC236}">
                <a16:creationId xmlns:a16="http://schemas.microsoft.com/office/drawing/2014/main" id="{40CFFCDB-D37F-4B78-BB90-171C5E9A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67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4234"/>
                </a:solidFill>
              </a:defRPr>
            </a:pPr>
            <a:r>
              <a:rPr sz="1275" b="1">
                <a:solidFill>
                  <a:srgbClr val="284234"/>
                </a:solidFill>
              </a:rPr>
              <a:t>글래스 대여 전환율</a:t>
            </a:r>
          </a:p>
        </p:txBody>
      </p:sp>
      <p:sp>
        <p:nvSpPr>
          <p:cNvPr id="29" name="factor-times-2">
            <a:extLst xmlns:a="http://schemas.openxmlformats.org/drawingml/2006/main">
              <a:ext uri="{FF2B5EF4-FFF2-40B4-BE49-F238E27FC236}">
                <a16:creationId xmlns:a16="http://schemas.microsoft.com/office/drawing/2014/main" id="{CC54A356-1D44-41DA-82B1-333D9E1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72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823A"/>
                </a:solidFill>
              </a:defRPr>
            </a:pPr>
            <a:r>
              <a:rPr sz="1800" b="1">
                <a:solidFill>
                  <a:srgbClr val="F5823A"/>
                </a:solidFill>
              </a:rPr>
              <a:t>×</a:t>
            </a:r>
          </a:p>
        </p:txBody>
      </p:sp>
      <p:sp>
        <p:nvSpPr>
          <p:cNvPr id="30" name="factor-label-3">
            <a:extLst xmlns:a="http://schemas.openxmlformats.org/drawingml/2006/main">
              <a:ext uri="{FF2B5EF4-FFF2-40B4-BE49-F238E27FC236}">
                <a16:creationId xmlns:a16="http://schemas.microsoft.com/office/drawing/2014/main" id="{0F08D69F-F509-48A7-A6B1-04D945A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86300"/>
            <a:ext cx="10287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A52"/>
                </a:solidFill>
              </a:defRPr>
            </a:pPr>
            <a:r>
              <a:rPr sz="975" b="1">
                <a:solidFill>
                  <a:srgbClr val="2F8A52"/>
                </a:solidFill>
              </a:rPr>
              <a:t>④ 단가</a:t>
            </a:r>
          </a:p>
        </p:txBody>
      </p:sp>
      <p:sp>
        <p:nvSpPr>
          <p:cNvPr id="31" name="factor-body-3">
            <a:extLst xmlns:a="http://schemas.openxmlformats.org/drawingml/2006/main">
              <a:ext uri="{FF2B5EF4-FFF2-40B4-BE49-F238E27FC236}">
                <a16:creationId xmlns:a16="http://schemas.microsoft.com/office/drawing/2014/main" id="{28E491A2-6455-4218-B8EB-87F4E1B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67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4234"/>
                </a:solidFill>
              </a:defRPr>
            </a:pPr>
            <a:r>
              <a:rPr sz="1275" b="1">
                <a:solidFill>
                  <a:srgbClr val="284234"/>
                </a:solidFill>
              </a:rPr>
              <a:t>1회 대여·서비스</a:t>
            </a:r>
          </a:p>
          <a:p xmlns:a="http://schemas.openxmlformats.org/drawingml/2006/main">
            <a:pPr algn="ctr">
              <a:defRPr sz="1275" b="1">
                <a:solidFill>
                  <a:srgbClr val="284234"/>
                </a:solidFill>
              </a:defRPr>
            </a:pPr>
            <a:r>
              <a:rPr sz="1275" b="1">
                <a:solidFill>
                  <a:srgbClr val="284234"/>
                </a:solidFill>
              </a:rPr>
              <a:t>이용료</a:t>
            </a:r>
          </a:p>
        </p:txBody>
      </p:sp>
      <p:sp>
        <p:nvSpPr>
          <p:cNvPr id="32" name="formula-result">
            <a:extLst xmlns:a="http://schemas.openxmlformats.org/drawingml/2006/main">
              <a:ext uri="{FF2B5EF4-FFF2-40B4-BE49-F238E27FC236}">
                <a16:creationId xmlns:a16="http://schemas.microsoft.com/office/drawing/2014/main" id="{D72A0552-2C90-458E-BE73-168DA22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924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85422"/>
                </a:solidFill>
              </a:defRPr>
            </a:pPr>
            <a:r>
              <a:rPr sz="1350" b="1">
                <a:solidFill>
                  <a:srgbClr val="A85422"/>
                </a:solidFill>
              </a:rPr>
              <a:t>= 초기 연간 매출 가능성</a:t>
            </a:r>
          </a:p>
        </p:txBody>
      </p:sp>
      <p:sp>
        <p:nvSpPr>
          <p:cNvPr id="33" name="formula-note">
            <a:extLst xmlns:a="http://schemas.openxmlformats.org/drawingml/2006/main">
              <a:ext uri="{FF2B5EF4-FFF2-40B4-BE49-F238E27FC236}">
                <a16:creationId xmlns:a16="http://schemas.microsoft.com/office/drawing/2014/main" id="{11E8495E-9175-4EAD-BC89-90B30C88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C70"/>
                </a:solidFill>
              </a:defRPr>
            </a:pPr>
            <a:r>
              <a:rPr sz="1050">
                <a:solidFill>
                  <a:srgbClr val="6B7C70"/>
                </a:solidFill>
              </a:rPr>
              <a:t>발표 전: 팀 조사값과 출처를 각 항목 아래에 한 줄씩 추가</a:t>
            </a:r>
          </a:p>
        </p:txBody>
      </p:sp>
    </p:spTree>
    <p:extLst>
      <p:ext uri="{BB962C8B-B14F-4D97-AF65-F5344CB8AC3E}">
        <p14:creationId xmlns:p14="http://schemas.microsoft.com/office/powerpoint/2010/main" val="844208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2026-08-24T06:53:05.8670000Z</dcterms:created>
  <dcterms:modified xsi:type="dcterms:W3CDTF">2026-08-24T06:53:05.8680000Z</dcterms:modified>
</coreProperties>
</file>